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81" r:id="rId7"/>
    <p:sldId id="279" r:id="rId8"/>
    <p:sldId id="291" r:id="rId9"/>
    <p:sldId id="264" r:id="rId10"/>
    <p:sldId id="290" r:id="rId11"/>
    <p:sldId id="292" r:id="rId12"/>
    <p:sldId id="294" r:id="rId13"/>
    <p:sldId id="293" r:id="rId14"/>
    <p:sldId id="286" r:id="rId15"/>
    <p:sldId id="287" r:id="rId16"/>
    <p:sldId id="280" r:id="rId17"/>
    <p:sldId id="288"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Jyothika-S2006/IRIS-rf-intelligence/tree/main"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7166811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Jyothika 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jyothikajee@gmail.com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8762525721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b="1" dirty="0">
                <a:highlight>
                  <a:srgbClr val="FFFF00"/>
                </a:highlight>
              </a:rPr>
              <a:t> Electronics and Telecommunications Engineering(Agentic AI project)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1077218"/>
          </a:xfrm>
          <a:prstGeom prst="rect">
            <a:avLst/>
          </a:prstGeom>
          <a:noFill/>
        </p:spPr>
        <p:txBody>
          <a:bodyPr wrap="square" rtlCol="0">
            <a:spAutoFit/>
          </a:bodyPr>
          <a:lstStyle/>
          <a:p>
            <a:r>
              <a:rPr lang="en-US" sz="2400" b="1" dirty="0"/>
              <a:t>Project Tile – </a:t>
            </a:r>
            <a:r>
              <a:rPr lang="en-IN" sz="2000" b="1" dirty="0">
                <a:highlight>
                  <a:srgbClr val="FFFF00"/>
                </a:highlight>
              </a:rPr>
              <a:t>IRIS — Interference Recognition &amp; Intelligence System</a:t>
            </a:r>
            <a:r>
              <a:rPr lang="en-IN" sz="2000" dirty="0">
                <a:highlight>
                  <a:srgbClr val="FFFF00"/>
                </a:highlight>
              </a:rPr>
              <a:t> </a:t>
            </a:r>
            <a:r>
              <a:rPr lang="en-IN" sz="2000" i="1" dirty="0">
                <a:highlight>
                  <a:srgbClr val="FFFF00"/>
                </a:highlight>
              </a:rPr>
              <a:t>AI-Based RF Interference Detection Assistant | IBM Hackathon Problem Statement #27</a:t>
            </a:r>
            <a:endParaRPr lang="en-IN" sz="2000" b="1" dirty="0">
              <a:highlight>
                <a:srgbClr val="FFFF00"/>
              </a:highlight>
            </a:endParaRPr>
          </a:p>
        </p:txBody>
      </p:sp>
      <p:pic>
        <p:nvPicPr>
          <p:cNvPr id="5" name="Picture 4">
            <a:extLst>
              <a:ext uri="{FF2B5EF4-FFF2-40B4-BE49-F238E27FC236}">
                <a16:creationId xmlns:a16="http://schemas.microsoft.com/office/drawing/2014/main" id="{51978598-3673-1E6A-F48C-661A164CE16D}"/>
              </a:ext>
            </a:extLst>
          </p:cNvPr>
          <p:cNvPicPr>
            <a:picLocks noChangeAspect="1"/>
          </p:cNvPicPr>
          <p:nvPr/>
        </p:nvPicPr>
        <p:blipFill>
          <a:blip r:embed="rId3"/>
          <a:srcRect l="29624" t="25950" r="28350" b="45891"/>
          <a:stretch>
            <a:fillRect/>
          </a:stretch>
        </p:blipFill>
        <p:spPr>
          <a:xfrm>
            <a:off x="4070555" y="3676763"/>
            <a:ext cx="963561" cy="10906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42452" y="1263936"/>
            <a:ext cx="10510683" cy="5355312"/>
          </a:xfrm>
          <a:prstGeom prst="rect">
            <a:avLst/>
          </a:prstGeom>
          <a:noFill/>
        </p:spPr>
        <p:txBody>
          <a:bodyPr wrap="square" rtlCol="0">
            <a:spAutoFit/>
          </a:bodyPr>
          <a:lstStyle/>
          <a:p>
            <a:r>
              <a:rPr lang="en-US" sz="1800" dirty="0"/>
              <a:t>Problem Statement No.27 : AI-Based RF Interference Detection Assistant</a:t>
            </a:r>
          </a:p>
          <a:p>
            <a:r>
              <a:rPr lang="en-US" sz="1800" b="1" dirty="0"/>
              <a:t>The Challenge</a:t>
            </a:r>
          </a:p>
          <a:p>
            <a:r>
              <a:rPr lang="en-US" sz="1800" dirty="0"/>
              <a:t>Radio Frequency (RF) interference can significantly affect communication systems such as </a:t>
            </a:r>
            <a:r>
              <a:rPr lang="en-US" sz="1800" dirty="0" err="1"/>
              <a:t>WiFi</a:t>
            </a:r>
            <a:r>
              <a:rPr lang="en-US" sz="1800" dirty="0"/>
              <a:t> networks, satellite communication, and mobile networks. Interference from electronic devices, overlapping frequencies, and environmental conditions can reduce signal quality and disrupt communication.</a:t>
            </a:r>
          </a:p>
          <a:p>
            <a:r>
              <a:rPr lang="en-US" sz="1800" dirty="0"/>
              <a:t>Identifying the source of RF interference requires specialized equipment and technical expertise. Engineers must manually analyze signal patterns, which can be complex and time-consuming.</a:t>
            </a:r>
          </a:p>
          <a:p>
            <a:r>
              <a:rPr lang="en-US" sz="1800" dirty="0"/>
              <a:t>The challenge is to build an intelligent system that can detect interference patterns and recommend solutions to improve communication performance.</a:t>
            </a:r>
          </a:p>
          <a:p>
            <a:r>
              <a:rPr lang="en-US" sz="1800" dirty="0"/>
              <a:t> </a:t>
            </a:r>
          </a:p>
          <a:p>
            <a:r>
              <a:rPr lang="en-US" sz="1800" b="1" dirty="0"/>
              <a:t>The Objective</a:t>
            </a:r>
          </a:p>
          <a:p>
            <a:r>
              <a:rPr lang="en-US" sz="1800" dirty="0"/>
              <a:t>Build an AI-Based RF Interference Detection Assistant that analyzes RF signal data and identifies potential interference sources. The solution should:</a:t>
            </a:r>
          </a:p>
          <a:p>
            <a:r>
              <a:rPr lang="en-US" sz="1800" dirty="0"/>
              <a:t>Analyze RF Signal Data :- Process RF measurement datasets to detect abnormal signal patterns.</a:t>
            </a:r>
          </a:p>
          <a:p>
            <a:r>
              <a:rPr lang="en-US" sz="1800" dirty="0"/>
              <a:t>Identify Interference Sources:- Recognize potential causes of interference in communication systems.</a:t>
            </a:r>
          </a:p>
          <a:p>
            <a:r>
              <a:rPr lang="en-US" sz="1800" dirty="0"/>
              <a:t>Provide Mitigation Strategies :- Recommend techniques to reduce interference and improve signal quality.</a:t>
            </a:r>
          </a:p>
          <a:p>
            <a:r>
              <a:rPr lang="en-US" sz="1800" dirty="0"/>
              <a:t>Visualize Signal Insights :- Display signal analysis results and alerts through an interactive dashboard</a:t>
            </a:r>
            <a:r>
              <a:rPr lang="en-US" dirty="0"/>
              <a:t>.</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566841"/>
            <a:ext cx="11039856" cy="6555641"/>
          </a:xfrm>
          <a:prstGeom prst="rect">
            <a:avLst/>
          </a:prstGeom>
          <a:noFill/>
        </p:spPr>
        <p:txBody>
          <a:bodyPr wrap="square" rtlCol="0">
            <a:spAutoFit/>
          </a:bodyPr>
          <a:lstStyle/>
          <a:p>
            <a:pPr fontAlgn="base"/>
            <a:endParaRPr lang="en-US" b="1" dirty="0"/>
          </a:p>
          <a:p>
            <a:r>
              <a:rPr lang="en-IN" b="1" dirty="0"/>
              <a:t>Proposed Solution: IRIS — Interference Recognition &amp; Intelligence System</a:t>
            </a:r>
          </a:p>
          <a:p>
            <a:r>
              <a:rPr lang="en-IN" dirty="0"/>
              <a:t>The proposed solution is a multi-agent AI-powered RF Interference Detection Assistant built using IBM watsonx.ai, Granite Models, and </a:t>
            </a:r>
            <a:r>
              <a:rPr lang="en-IN" dirty="0" err="1"/>
              <a:t>Langflow</a:t>
            </a:r>
            <a:r>
              <a:rPr lang="en-IN" dirty="0"/>
              <a:t> to autonomously detect, diagnose, and mitigate radio frequency interference in real time. The system addresses challenges in spectrum monitoring, interference identification, and signal quality restoration through an intelligent, modular architecture.</a:t>
            </a:r>
          </a:p>
          <a:p>
            <a:r>
              <a:rPr lang="en-IN" dirty="0"/>
              <a:t>At its core, the solution uses a </a:t>
            </a:r>
            <a:r>
              <a:rPr lang="en-IN" b="1" dirty="0"/>
              <a:t>Retrieval-Augmented Generation (RAG) pipeline</a:t>
            </a:r>
            <a:r>
              <a:rPr lang="en-IN" dirty="0"/>
              <a:t> to fetch accurate interference knowledge from a curated RF knowledge base covering interference types, real-world sources, and mitigation strategies. This data is embedded and stored in a vector database (</a:t>
            </a:r>
            <a:r>
              <a:rPr lang="en-IN" dirty="0" err="1"/>
              <a:t>ChromaDB</a:t>
            </a:r>
            <a:r>
              <a:rPr lang="en-IN" dirty="0"/>
              <a:t>), enabling the system to retrieve and ground every agent decision in factual RF engineering documentation using Granite models.</a:t>
            </a:r>
          </a:p>
          <a:p>
            <a:r>
              <a:rPr lang="en-IN" dirty="0"/>
              <a:t>The system consists of four key agents:</a:t>
            </a:r>
          </a:p>
          <a:p>
            <a:pPr lvl="0"/>
            <a:r>
              <a:rPr lang="en-IN" b="1" dirty="0"/>
              <a:t>Monitor Agent</a:t>
            </a:r>
            <a:r>
              <a:rPr lang="en-IN" dirty="0"/>
              <a:t> continuously watches the RF signal stream and autonomously triggers the pipeline when the autoencoder anomaly score crosses the detection threshold — no human prompt required.</a:t>
            </a:r>
          </a:p>
          <a:p>
            <a:pPr lvl="0"/>
            <a:r>
              <a:rPr lang="en-IN" b="1" dirty="0"/>
              <a:t>Diagnosis Agent</a:t>
            </a:r>
            <a:r>
              <a:rPr lang="en-IN" dirty="0"/>
              <a:t> classifies the interference type using a GBM classifier on 12 engineered DSP features and a CNN on STFT spectrogram images, with a self-verification loop that re-analyses the signal if confidence is below 65% or models disagree.</a:t>
            </a:r>
          </a:p>
          <a:p>
            <a:pPr lvl="0"/>
            <a:r>
              <a:rPr lang="en-IN" b="1" dirty="0"/>
              <a:t>Mitigation Agent</a:t>
            </a:r>
            <a:r>
              <a:rPr lang="en-IN" dirty="0"/>
              <a:t> selects and applies the appropriate DSP fix (notch filter for CW tone, pulse blanking for radar-like bursts, bandpass filtering for wideband/adjacent-channel interference), then re-runs detection to measure the actual before/after SNR improvement in a closed loop.</a:t>
            </a:r>
          </a:p>
          <a:p>
            <a:pPr lvl="0"/>
            <a:r>
              <a:rPr lang="en-IN" b="1" dirty="0"/>
              <a:t>Report Agent</a:t>
            </a:r>
            <a:r>
              <a:rPr lang="en-IN" dirty="0"/>
              <a:t> compiles a structured incident report grounded entirely in tool outputs and stores it to persistent memory, allowing the system to reference past incidents for future analysis.</a:t>
            </a:r>
          </a:p>
          <a:p>
            <a:r>
              <a:rPr lang="en-IN" dirty="0"/>
              <a:t>The solution includes a premium interactive dashboard built with </a:t>
            </a:r>
            <a:r>
              <a:rPr lang="en-IN" dirty="0" err="1"/>
              <a:t>Streamlit</a:t>
            </a:r>
            <a:r>
              <a:rPr lang="en-IN" dirty="0"/>
              <a:t> that visualizes live spectrum plots, waterfall spectrograms, classification confidence cards, before/after SNR metrics, an agent reasoning trace panel, and a chat interface for natural language queries.</a:t>
            </a:r>
          </a:p>
          <a:p>
            <a:r>
              <a:rPr lang="en-IN" dirty="0"/>
              <a:t>IBM watsonx.ai with Granite-13b-chat powers agent reasoning, RAG-grounded explanation generation, and mitigation strategy selection. </a:t>
            </a:r>
            <a:r>
              <a:rPr lang="en-IN" dirty="0" err="1"/>
              <a:t>Langflow</a:t>
            </a:r>
            <a:r>
              <a:rPr lang="en-IN" dirty="0"/>
              <a:t> orchestrates the multi-agent workflow, while scikit-learn (GBM) and </a:t>
            </a:r>
            <a:r>
              <a:rPr lang="en-IN" dirty="0" err="1"/>
              <a:t>PyTorch</a:t>
            </a:r>
            <a:r>
              <a:rPr lang="en-IN" dirty="0"/>
              <a:t> (Autoencoder + CNN) handle the machine learning inference layer.</a:t>
            </a:r>
          </a:p>
          <a:p>
            <a:r>
              <a:rPr lang="en-IN" dirty="0"/>
              <a:t>Overall, IRIS delivers an end-to-end intelligent RF monitoring system that autonomously detects interference, explains its source, applies digital fixes, and learns from past incidents — making professional-grade spectrum analysis accessible without specialized hardware or expertise.</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39473"/>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478423"/>
          </a:xfrm>
          <a:prstGeom prst="rect">
            <a:avLst/>
          </a:prstGeom>
          <a:noFill/>
        </p:spPr>
        <p:txBody>
          <a:bodyPr wrap="square" rtlCol="0">
            <a:spAutoFit/>
          </a:bodyPr>
          <a:lstStyle/>
          <a:p>
            <a:pPr marL="285750" indent="-285750">
              <a:buFont typeface="Arial" panose="020B0604020202020204" pitchFamily="34" charset="0"/>
              <a:buChar char="•"/>
            </a:pPr>
            <a:r>
              <a:rPr lang="en-IN" b="1" dirty="0"/>
              <a:t>IBM Bob</a:t>
            </a:r>
            <a:r>
              <a:rPr lang="en-IN" dirty="0"/>
              <a:t> — For designing and orchestrating the multi-agent workflow visually. The four agents (Monitor, Diagnosis, Mitigation, Report) are wired together and coordinated through IBM Bob's agent builder, enabling autonomous pipeline execution without manual intervention.</a:t>
            </a:r>
          </a:p>
          <a:p>
            <a:pPr marL="285750" indent="-285750">
              <a:buFont typeface="Arial" panose="020B0604020202020204" pitchFamily="34" charset="0"/>
              <a:buChar char="•"/>
            </a:pPr>
            <a:r>
              <a:rPr lang="en-IN" b="1" dirty="0"/>
              <a:t>IBM Granite Model (ibm-granite-13b-chat-v2)</a:t>
            </a:r>
            <a:r>
              <a:rPr lang="en-IN" dirty="0"/>
              <a:t> — For natural language understanding, reasoning, and grounded explanation generation. Granite powers the Diagnosis Agent's interference explanation, the Mitigation Agent's strategy justification, and the chat interface — ensuring all responses are factual and sourced from tool outputs.</a:t>
            </a:r>
          </a:p>
          <a:p>
            <a:pPr marL="285750" indent="-285750">
              <a:buFont typeface="Arial" panose="020B0604020202020204" pitchFamily="34" charset="0"/>
              <a:buChar char="•"/>
            </a:pPr>
            <a:r>
              <a:rPr lang="en-IN" b="1" dirty="0"/>
              <a:t>IBM watsonx.ai</a:t>
            </a:r>
            <a:r>
              <a:rPr lang="en-IN" dirty="0"/>
              <a:t> — For model deployment, embeddings, and AI governance. watsonx.ai hosts the Granite model inference endpoint, manages API authentication, and provides a governed, enterprise-grade AI environment for all agent LLM calls.</a:t>
            </a:r>
          </a:p>
          <a:p>
            <a:pPr marL="285750" indent="-285750">
              <a:buFont typeface="Arial" panose="020B0604020202020204" pitchFamily="34" charset="0"/>
              <a:buChar char="•"/>
            </a:pPr>
            <a:r>
              <a:rPr lang="en-IN" b="1" dirty="0"/>
              <a:t>IBM Cloud</a:t>
            </a:r>
            <a:r>
              <a:rPr lang="en-IN" dirty="0"/>
              <a:t> — Provides the infrastructure to build, deploy, and scale IRIS. The application is containerised using Docker and configured for IBM Cloud Code Engine deployment. The watsonx.ai Granite model is accessed via IBM Cloud infrastructure, ensuring a reliable and secure environment for all AI inference.</a:t>
            </a:r>
          </a:p>
          <a:p>
            <a:pPr marL="285750" indent="-285750">
              <a:buFont typeface="Arial" panose="020B0604020202020204" pitchFamily="34" charset="0"/>
              <a:buChar char="•"/>
            </a:pPr>
            <a:r>
              <a:rPr lang="en-IN" b="1" dirty="0"/>
              <a:t>RAG (Retrieval-Augmented Generation)</a:t>
            </a:r>
            <a:r>
              <a:rPr lang="en-IN" dirty="0"/>
              <a:t> — IRIS uses RAG to fetch real RF interference knowledge first, then generates intelligent answers grounded in that data. This makes every agent decision trustworthy and traceable — the system never invents measurements or sources.</a:t>
            </a:r>
          </a:p>
          <a:p>
            <a:pPr marL="285750" indent="-285750">
              <a:buFont typeface="Arial" panose="020B0604020202020204" pitchFamily="34" charset="0"/>
              <a:buChar char="•"/>
            </a:pPr>
            <a:r>
              <a:rPr lang="en-IN" b="1" dirty="0"/>
              <a:t>Vector Database (</a:t>
            </a:r>
            <a:r>
              <a:rPr lang="en-IN" b="1" dirty="0" err="1"/>
              <a:t>ChromaDB</a:t>
            </a:r>
            <a:r>
              <a:rPr lang="en-IN" b="1" dirty="0"/>
              <a:t>)</a:t>
            </a:r>
            <a:r>
              <a:rPr lang="en-IN" dirty="0"/>
              <a:t> — For RAG-based RF knowledge retrieval. The knowledge base covering interference types, real-world sources, and mitigation strategies is chunked, embedded, and stored in </a:t>
            </a:r>
            <a:r>
              <a:rPr lang="en-IN" dirty="0" err="1"/>
              <a:t>ChromaDB</a:t>
            </a:r>
            <a:r>
              <a:rPr lang="en-IN" dirty="0"/>
              <a:t>, enabling semantic search at inference time.</a:t>
            </a:r>
          </a:p>
          <a:p>
            <a:pPr marL="285750" indent="-285750">
              <a:buFont typeface="Arial" panose="020B0604020202020204" pitchFamily="34" charset="0"/>
              <a:buChar char="•"/>
            </a:pPr>
            <a:r>
              <a:rPr lang="en-IN" b="1" dirty="0"/>
              <a:t>Scikit-learn (GBM)</a:t>
            </a:r>
            <a:r>
              <a:rPr lang="en-IN" dirty="0"/>
              <a:t> — Primary interference classifier trained on 12 engineered DSP features (spectral flatness, PAPR, duty cycle, kurtosis, occupied bandwidth). Fast CPU inference with class probability output used as the confidence score on the dashboard.</a:t>
            </a:r>
          </a:p>
          <a:p>
            <a:pPr marL="285750" indent="-285750">
              <a:buFont typeface="Arial" panose="020B0604020202020204" pitchFamily="34" charset="0"/>
              <a:buChar char="•"/>
            </a:pPr>
            <a:r>
              <a:rPr lang="en-IN" b="1" dirty="0" err="1"/>
              <a:t>PyTorch</a:t>
            </a:r>
            <a:r>
              <a:rPr lang="en-IN" b="1" dirty="0"/>
              <a:t> (Autoencoder + CNN)</a:t>
            </a:r>
            <a:r>
              <a:rPr lang="en-IN" dirty="0"/>
              <a:t> — Autoencoder trained on clean signals only for one-class anomaly detection. Small CNN trained on 64×64 STFT spectrogram images to classify interference by its visual frequency-time fingerprint.</a:t>
            </a:r>
          </a:p>
          <a:p>
            <a:pPr marL="285750" indent="-285750">
              <a:buFont typeface="Arial" panose="020B0604020202020204" pitchFamily="34" charset="0"/>
              <a:buChar char="•"/>
            </a:pPr>
            <a:r>
              <a:rPr lang="en-IN" b="1" dirty="0" err="1"/>
              <a:t>Streamlit</a:t>
            </a:r>
            <a:r>
              <a:rPr lang="en-IN" dirty="0"/>
              <a:t> — For building the interactive real-time dashboard with live spectrum plots, waterfall display, agent reasoning trace, classification cards, mitigation results, and a natural language chat panel — all in a premium red/black UI.</a:t>
            </a:r>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3970318"/>
          </a:xfrm>
          <a:prstGeom prst="rect">
            <a:avLst/>
          </a:prstGeom>
          <a:noFill/>
        </p:spPr>
        <p:txBody>
          <a:bodyPr wrap="square" rtlCol="0">
            <a:spAutoFit/>
          </a:bodyPr>
          <a:lstStyle/>
          <a:p>
            <a:pPr marL="342900" indent="-342900">
              <a:buFont typeface="+mj-lt"/>
              <a:buAutoNum type="arabicPeriod"/>
            </a:pPr>
            <a:endParaRPr lang="en-US" dirty="0"/>
          </a:p>
          <a:p>
            <a:pPr marL="342900" lvl="0" indent="-342900">
              <a:buFont typeface="+mj-lt"/>
              <a:buAutoNum type="arabicPeriod"/>
            </a:pPr>
            <a:r>
              <a:rPr lang="en-IN" b="1" dirty="0" err="1"/>
              <a:t>langflow_flow.json</a:t>
            </a:r>
            <a:r>
              <a:rPr lang="en-IN" b="1" dirty="0"/>
              <a:t> </a:t>
            </a:r>
            <a:r>
              <a:rPr lang="en-IN" dirty="0"/>
              <a:t>— the visual agent workflow (import this into IBM Bob)</a:t>
            </a:r>
          </a:p>
          <a:p>
            <a:pPr marL="342900" lvl="0" indent="-342900">
              <a:buFont typeface="+mj-lt"/>
              <a:buAutoNum type="arabicPeriod"/>
            </a:pPr>
            <a:r>
              <a:rPr lang="en-IN" b="1" dirty="0"/>
              <a:t>agent_system.py </a:t>
            </a:r>
            <a:r>
              <a:rPr lang="en-IN" dirty="0"/>
              <a:t>— multi-agent orchestration logic</a:t>
            </a:r>
          </a:p>
          <a:p>
            <a:pPr marL="342900" lvl="0" indent="-342900">
              <a:buFont typeface="+mj-lt"/>
              <a:buAutoNum type="arabicPeriod"/>
            </a:pPr>
            <a:r>
              <a:rPr lang="en-IN" b="1" dirty="0"/>
              <a:t>agent_tools.py </a:t>
            </a:r>
            <a:r>
              <a:rPr lang="en-IN" dirty="0"/>
              <a:t>— all 8 tools registered for the agents</a:t>
            </a:r>
          </a:p>
          <a:p>
            <a:pPr marL="342900" lvl="0" indent="-342900">
              <a:buFont typeface="+mj-lt"/>
              <a:buAutoNum type="arabicPeriod"/>
            </a:pPr>
            <a:r>
              <a:rPr lang="en-IN" b="1" dirty="0"/>
              <a:t>build_langflow.py </a:t>
            </a:r>
            <a:r>
              <a:rPr lang="en-IN" dirty="0"/>
              <a:t>— script that generates the flow</a:t>
            </a:r>
          </a:p>
          <a:p>
            <a:pPr marL="342900" lvl="0" indent="-342900">
              <a:buFont typeface="+mj-lt"/>
              <a:buAutoNum type="arabicPeriod"/>
            </a:pPr>
            <a:r>
              <a:rPr lang="en-IN" b="1" dirty="0"/>
              <a:t>kb/interference_types.md </a:t>
            </a:r>
            <a:r>
              <a:rPr lang="en-IN" dirty="0"/>
              <a:t>— knowledge base for RAG</a:t>
            </a:r>
          </a:p>
          <a:p>
            <a:pPr marL="342900" lvl="0" indent="-342900">
              <a:buFont typeface="+mj-lt"/>
              <a:buAutoNum type="arabicPeriod"/>
            </a:pPr>
            <a:r>
              <a:rPr lang="en-IN" b="1" dirty="0"/>
              <a:t>kb/mitigation_strategies.md </a:t>
            </a:r>
            <a:r>
              <a:rPr lang="en-IN" dirty="0"/>
              <a:t>— knowledge base for RAG</a:t>
            </a:r>
          </a:p>
          <a:p>
            <a:pPr marL="342900" lvl="0" indent="-342900">
              <a:buFont typeface="+mj-lt"/>
              <a:buAutoNum type="arabicPeriod"/>
            </a:pPr>
            <a:r>
              <a:rPr lang="en-IN" b="1" dirty="0"/>
              <a:t>kb/interference_sources.md </a:t>
            </a:r>
            <a:r>
              <a:rPr lang="en-IN" dirty="0"/>
              <a:t>— knowledge base for RAG</a:t>
            </a:r>
          </a:p>
          <a:p>
            <a:br>
              <a:rPr lang="en-IN" dirty="0"/>
            </a:br>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497228A2-422C-2EA6-F700-C5DC927EC80D}"/>
              </a:ext>
            </a:extLst>
          </p:cNvPr>
          <p:cNvPicPr>
            <a:picLocks noChangeAspect="1"/>
          </p:cNvPicPr>
          <p:nvPr/>
        </p:nvPicPr>
        <p:blipFill>
          <a:blip r:embed="rId3"/>
          <a:srcRect r="33203"/>
          <a:stretch>
            <a:fillRect/>
          </a:stretch>
        </p:blipFill>
        <p:spPr>
          <a:xfrm>
            <a:off x="4483510" y="2620814"/>
            <a:ext cx="7233668" cy="4118044"/>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a:extLst>
              <a:ext uri="{FF2B5EF4-FFF2-40B4-BE49-F238E27FC236}">
                <a16:creationId xmlns:a16="http://schemas.microsoft.com/office/drawing/2014/main" id="{580D70D4-11E6-4438-22E6-5A74765D5F25}"/>
              </a:ext>
            </a:extLst>
          </p:cNvPr>
          <p:cNvPicPr>
            <a:picLocks noChangeAspect="1"/>
          </p:cNvPicPr>
          <p:nvPr/>
        </p:nvPicPr>
        <p:blipFill>
          <a:blip r:embed="rId3"/>
          <a:stretch>
            <a:fillRect/>
          </a:stretch>
        </p:blipFill>
        <p:spPr>
          <a:xfrm>
            <a:off x="393290" y="983226"/>
            <a:ext cx="11238271" cy="555153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0173D9-8C1F-B45F-A962-7A73AA3A8856}"/>
              </a:ext>
            </a:extLst>
          </p:cNvPr>
          <p:cNvPicPr>
            <a:picLocks noChangeAspect="1"/>
          </p:cNvPicPr>
          <p:nvPr/>
        </p:nvPicPr>
        <p:blipFill>
          <a:blip r:embed="rId2"/>
          <a:stretch>
            <a:fillRect/>
          </a:stretch>
        </p:blipFill>
        <p:spPr>
          <a:xfrm>
            <a:off x="393290" y="190500"/>
            <a:ext cx="11385755" cy="647700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10333703" y="283464"/>
            <a:ext cx="1457042" cy="1574833"/>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475487" y="754538"/>
            <a:ext cx="11241025" cy="6124754"/>
          </a:xfrm>
          <a:prstGeom prst="rect">
            <a:avLst/>
          </a:prstGeom>
          <a:noFill/>
        </p:spPr>
        <p:txBody>
          <a:bodyPr wrap="square" rtlCol="0">
            <a:spAutoFit/>
          </a:bodyPr>
          <a:lstStyle/>
          <a:p>
            <a:r>
              <a:rPr lang="en-IN" b="1" dirty="0"/>
              <a:t>Role of Agentic AI in IRIS</a:t>
            </a:r>
          </a:p>
          <a:p>
            <a:r>
              <a:rPr lang="en-IN" dirty="0"/>
              <a:t>Agentic AI is the </a:t>
            </a:r>
            <a:r>
              <a:rPr lang="en-IN" b="1" dirty="0"/>
              <a:t>core innovation</a:t>
            </a:r>
            <a:r>
              <a:rPr lang="en-IN" dirty="0"/>
              <a:t> of IRIS - not just a chatbot layer on top of ML models, but a system that </a:t>
            </a:r>
            <a:r>
              <a:rPr lang="en-IN" b="1" dirty="0"/>
              <a:t>plans, acts, verifies, and learns autonomously</a:t>
            </a:r>
            <a:r>
              <a:rPr lang="en-IN" dirty="0"/>
              <a:t>.</a:t>
            </a:r>
          </a:p>
          <a:p>
            <a:r>
              <a:rPr lang="en-IN" dirty="0"/>
              <a:t>Here's exactly how agentic AI is used:</a:t>
            </a:r>
          </a:p>
          <a:p>
            <a:r>
              <a:rPr lang="en-IN" b="1" dirty="0"/>
              <a:t>1. Autonomous Triggering (No Human Prompt Needed)</a:t>
            </a:r>
          </a:p>
          <a:p>
            <a:r>
              <a:rPr lang="en-IN" dirty="0"/>
              <a:t>The </a:t>
            </a:r>
            <a:r>
              <a:rPr lang="en-IN" b="1" dirty="0"/>
              <a:t>Monitor Agent</a:t>
            </a:r>
            <a:r>
              <a:rPr lang="en-IN" dirty="0"/>
              <a:t> continuously watches the signal stream and triggers the full pipeline the moment the anomaly score crosses the threshold — entirely on its own. No user has to say "analyse this signal."</a:t>
            </a:r>
          </a:p>
          <a:p>
            <a:r>
              <a:rPr lang="en-IN" b="1" dirty="0"/>
              <a:t>2. Multi-Step Planning &amp; Delegation</a:t>
            </a:r>
          </a:p>
          <a:p>
            <a:r>
              <a:rPr lang="en-IN" dirty="0"/>
              <a:t>The </a:t>
            </a:r>
            <a:r>
              <a:rPr lang="en-IN" b="1" dirty="0"/>
              <a:t>Orchestrator Agent</a:t>
            </a:r>
            <a:r>
              <a:rPr lang="en-IN" dirty="0"/>
              <a:t> doesn't follow a fixed script. It checks past memory, assesses the situation, and decides which agents to activate and in what order — just like a human expert would delegate tasks to a team.</a:t>
            </a:r>
          </a:p>
          <a:p>
            <a:r>
              <a:rPr lang="en-IN" b="1" dirty="0"/>
              <a:t>3. Self-Verification &amp; Retry</a:t>
            </a:r>
          </a:p>
          <a:p>
            <a:r>
              <a:rPr lang="en-IN" dirty="0"/>
              <a:t>The </a:t>
            </a:r>
            <a:r>
              <a:rPr lang="en-IN" b="1" dirty="0"/>
              <a:t>Diagnosis Agent</a:t>
            </a:r>
            <a:r>
              <a:rPr lang="en-IN" dirty="0"/>
              <a:t> doesn't blindly trust its first result. If classifier confidence is below 65% or the GBM and CNN disagree, it </a:t>
            </a:r>
            <a:r>
              <a:rPr lang="en-IN" b="1" dirty="0"/>
              <a:t>re-measures the signal</a:t>
            </a:r>
            <a:r>
              <a:rPr lang="en-IN" dirty="0"/>
              <a:t> up to 2 times before concluding. A simple ML pipeline would just pass a wrong answer downstream.</a:t>
            </a:r>
          </a:p>
          <a:p>
            <a:r>
              <a:rPr lang="en-IN" b="1" dirty="0"/>
              <a:t>4. Closed-Loop Action</a:t>
            </a:r>
          </a:p>
          <a:p>
            <a:r>
              <a:rPr lang="en-IN" dirty="0"/>
              <a:t>The </a:t>
            </a:r>
            <a:r>
              <a:rPr lang="en-IN" b="1" dirty="0"/>
              <a:t>Mitigation Agent</a:t>
            </a:r>
            <a:r>
              <a:rPr lang="en-IN" dirty="0"/>
              <a:t> doesn't just recommend a fix - it </a:t>
            </a:r>
            <a:r>
              <a:rPr lang="en-IN" b="1" dirty="0"/>
              <a:t>applies the DSP filter, re-runs detection, and measures the actual SNR improvement</a:t>
            </a:r>
            <a:r>
              <a:rPr lang="en-IN" dirty="0"/>
              <a:t>. It verifies its own work. This is the closed-loop autonomy that separates an agent from a function call.</a:t>
            </a:r>
          </a:p>
          <a:p>
            <a:r>
              <a:rPr lang="en-IN" b="1" dirty="0"/>
              <a:t>5. Grounded Reasoning (RAG + LLM)</a:t>
            </a:r>
          </a:p>
          <a:p>
            <a:r>
              <a:rPr lang="en-IN" dirty="0"/>
              <a:t>Every agent decision is grounded in </a:t>
            </a:r>
            <a:r>
              <a:rPr lang="en-IN" b="1" dirty="0"/>
              <a:t>real tool outputs and KB documents</a:t>
            </a:r>
            <a:r>
              <a:rPr lang="en-IN" dirty="0"/>
              <a:t> retrieved via RAG. IBM Granite synthesises the explanation - it never invents measurements. This makes the AI trustworthy and explainable.</a:t>
            </a:r>
          </a:p>
          <a:p>
            <a:r>
              <a:rPr lang="en-IN" b="1" dirty="0"/>
              <a:t>6. Persistent Memory</a:t>
            </a:r>
          </a:p>
          <a:p>
            <a:r>
              <a:rPr lang="en-IN" dirty="0"/>
              <a:t>The </a:t>
            </a:r>
            <a:r>
              <a:rPr lang="en-IN" b="1" dirty="0"/>
              <a:t>Report Agent</a:t>
            </a:r>
            <a:r>
              <a:rPr lang="en-IN" dirty="0"/>
              <a:t> stores every incident to memory. The Orchestrator reads past incidents before each new analysis — so IRIS </a:t>
            </a:r>
            <a:r>
              <a:rPr lang="en-IN" b="1" dirty="0"/>
              <a:t>learns from history</a:t>
            </a:r>
            <a:r>
              <a:rPr lang="en-IN" dirty="0"/>
              <a:t> and can detect patterns like recurring interference from the same source.</a:t>
            </a:r>
          </a:p>
          <a:p>
            <a:r>
              <a:rPr lang="en-IN" b="1" dirty="0"/>
              <a:t>7. Transparent Reasoning Trace</a:t>
            </a:r>
          </a:p>
          <a:p>
            <a:r>
              <a:rPr lang="en-IN" dirty="0"/>
              <a:t>Every agent thought, tool call, and observation is logged to a </a:t>
            </a:r>
            <a:r>
              <a:rPr lang="en-IN" b="1" dirty="0"/>
              <a:t>live reasoning trace</a:t>
            </a:r>
            <a:r>
              <a:rPr lang="en-IN" dirty="0"/>
              <a:t> visible on the dashboard — so judges and operators can see exactly why IRIS made each decision.</a:t>
            </a:r>
          </a:p>
          <a:p>
            <a:r>
              <a:rPr lang="en-IN" b="1" dirty="0"/>
              <a:t>In short:</a:t>
            </a:r>
            <a:r>
              <a:rPr lang="en-IN" dirty="0"/>
              <a:t> Agentic AI turns IRIS from a passive classifier into an </a:t>
            </a:r>
            <a:r>
              <a:rPr lang="en-IN" b="1" dirty="0"/>
              <a:t>active, autonomous RF engineer</a:t>
            </a:r>
            <a:r>
              <a:rPr lang="en-IN" dirty="0"/>
              <a:t> that detects problems, investigates them, fixes them, and documents the outcome — all without human intervention.</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rcRect t="5865"/>
          <a:stretch>
            <a:fillRect/>
          </a:stretch>
        </p:blipFill>
        <p:spPr>
          <a:xfrm>
            <a:off x="259035" y="599768"/>
            <a:ext cx="11657662" cy="6001119"/>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rcRect t="6662"/>
          <a:stretch>
            <a:fillRect/>
          </a:stretch>
        </p:blipFill>
        <p:spPr>
          <a:xfrm>
            <a:off x="216310" y="675616"/>
            <a:ext cx="11680721" cy="606942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EA2B937-7261-D6F4-03F7-E7D9667883C6}"/>
              </a:ext>
            </a:extLst>
          </p:cNvPr>
          <p:cNvSpPr>
            <a:spLocks noGrp="1"/>
          </p:cNvSpPr>
          <p:nvPr>
            <p:ph type="body" idx="1"/>
          </p:nvPr>
        </p:nvSpPr>
        <p:spPr>
          <a:xfrm>
            <a:off x="300908" y="263269"/>
            <a:ext cx="10515600" cy="1500187"/>
          </a:xfrm>
        </p:spPr>
        <p:txBody>
          <a:bodyPr/>
          <a:lstStyle/>
          <a:p>
            <a:r>
              <a:rPr lang="en-IN" dirty="0">
                <a:solidFill>
                  <a:schemeClr val="tx1"/>
                </a:solidFill>
                <a:latin typeface="+mj-lt"/>
              </a:rPr>
              <a:t>Project output </a:t>
            </a:r>
          </a:p>
        </p:txBody>
      </p:sp>
      <p:pic>
        <p:nvPicPr>
          <p:cNvPr id="5" name="Picture 4">
            <a:extLst>
              <a:ext uri="{FF2B5EF4-FFF2-40B4-BE49-F238E27FC236}">
                <a16:creationId xmlns:a16="http://schemas.microsoft.com/office/drawing/2014/main" id="{7B43CA8B-4980-9A90-F6C6-9EA03BAE59E6}"/>
              </a:ext>
            </a:extLst>
          </p:cNvPr>
          <p:cNvPicPr>
            <a:picLocks noChangeAspect="1"/>
          </p:cNvPicPr>
          <p:nvPr/>
        </p:nvPicPr>
        <p:blipFill>
          <a:blip r:embed="rId2"/>
          <a:stretch>
            <a:fillRect/>
          </a:stretch>
        </p:blipFill>
        <p:spPr>
          <a:xfrm>
            <a:off x="1671483" y="766916"/>
            <a:ext cx="10009239" cy="5948516"/>
          </a:xfrm>
          <a:prstGeom prst="rect">
            <a:avLst/>
          </a:prstGeom>
        </p:spPr>
      </p:pic>
    </p:spTree>
    <p:extLst>
      <p:ext uri="{BB962C8B-B14F-4D97-AF65-F5344CB8AC3E}">
        <p14:creationId xmlns:p14="http://schemas.microsoft.com/office/powerpoint/2010/main" val="2056967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rcRect t="5984"/>
          <a:stretch>
            <a:fillRect/>
          </a:stretch>
        </p:blipFill>
        <p:spPr>
          <a:xfrm>
            <a:off x="176981" y="658761"/>
            <a:ext cx="11828206" cy="6086279"/>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45008" y="464967"/>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5008" y="1059524"/>
            <a:ext cx="11301984" cy="5693866"/>
          </a:xfrm>
          <a:prstGeom prst="rect">
            <a:avLst/>
          </a:prstGeom>
          <a:noFill/>
        </p:spPr>
        <p:txBody>
          <a:bodyPr wrap="square" rtlCol="0">
            <a:spAutoFit/>
          </a:bodyPr>
          <a:lstStyle/>
          <a:p>
            <a:r>
              <a:rPr lang="en-IN" b="1" dirty="0"/>
              <a:t>Novelty &amp; Uniqueness of IRIS</a:t>
            </a:r>
          </a:p>
          <a:p>
            <a:r>
              <a:rPr lang="en-IN" dirty="0"/>
              <a:t>The proposed IRIS system stands out by combining </a:t>
            </a:r>
            <a:r>
              <a:rPr lang="en-IN" b="1" i="1" u="sng" dirty="0"/>
              <a:t>Agentic AI, real-time DSP, RAG, and closed-loop verification into a single autonomous RF intelligence platform.</a:t>
            </a:r>
          </a:p>
          <a:p>
            <a:r>
              <a:rPr lang="en-IN" b="1" dirty="0"/>
              <a:t>Multi-Agent Autonomy</a:t>
            </a:r>
            <a:r>
              <a:rPr lang="en-IN" dirty="0"/>
              <a:t> — Instead of a single classifier or chatbot, four specialised agents (Monitor, Diagnosis, Mitigation, Report) collaborate under an Orchestrator to deliver end-to-end interference management. The system triggers, investigates, fixes, and documents — all without any human prompt.</a:t>
            </a:r>
          </a:p>
          <a:p>
            <a:r>
              <a:rPr lang="en-IN" b="1" dirty="0"/>
              <a:t>Closed-Loop Mitigation</a:t>
            </a:r>
            <a:r>
              <a:rPr lang="en-IN" dirty="0"/>
              <a:t> — Unlike existing solutions that only detect or recommend fixes, </a:t>
            </a:r>
            <a:r>
              <a:rPr lang="en-IN" i="1" u="sng" dirty="0"/>
              <a:t>IRIS actually applies the DSP mitigation (notch filter, pulse blanking, bandpass filter) to the signal, re-runs detection, and measures the real before/after SNR improvement</a:t>
            </a:r>
            <a:r>
              <a:rPr lang="en-IN" dirty="0"/>
              <a:t>. It verifies its own work.</a:t>
            </a:r>
          </a:p>
          <a:p>
            <a:r>
              <a:rPr lang="en-IN" b="1" dirty="0"/>
              <a:t>Self-Verifying Intelligence</a:t>
            </a:r>
            <a:r>
              <a:rPr lang="en-IN" dirty="0"/>
              <a:t> — If classifier confidence is below 65% or the GBM and CNN models disagree, IRIS re-analyses the signal autonomously before concluding. </a:t>
            </a:r>
            <a:r>
              <a:rPr lang="en-IN" i="1" u="sng" dirty="0"/>
              <a:t>No existing open-source RF tool has this self-doubt and retry behaviour.</a:t>
            </a:r>
          </a:p>
          <a:p>
            <a:r>
              <a:rPr lang="en-IN" b="1" dirty="0"/>
              <a:t>RAG-Grounded Decisions</a:t>
            </a:r>
            <a:r>
              <a:rPr lang="en-IN" dirty="0"/>
              <a:t> — Every agent explanation is grounded in retrieved RF engineering documents via RAG, not generated from model memory. This eliminates hallucination and makes every claim traceable to a source — critical for telecom and defence applications.</a:t>
            </a:r>
          </a:p>
          <a:p>
            <a:r>
              <a:rPr lang="en-IN" b="1" dirty="0"/>
              <a:t>Three-Model Ensemble</a:t>
            </a:r>
            <a:r>
              <a:rPr lang="en-IN" dirty="0"/>
              <a:t> — IRIS combines an Autoencoder (one-class anomaly detection), a GBM on 12 engineered DSP features, and a CNN on STFT spectrogram images. Each model catches what others miss — enabling both zero-shot detection of unknown interference and high-confidence classification of known types.</a:t>
            </a:r>
          </a:p>
          <a:p>
            <a:r>
              <a:rPr lang="en-IN" b="1" dirty="0"/>
              <a:t>Persistent Incident Memory</a:t>
            </a:r>
            <a:r>
              <a:rPr lang="en-IN" dirty="0"/>
              <a:t> — IRIS stores every incident with type, confidence, mitigation strategy, and outcome. The Orchestrator references past incidents before each new analysis, enabling pattern recognition across time — something no single-shot ML classifier can do.</a:t>
            </a:r>
          </a:p>
          <a:p>
            <a:r>
              <a:rPr lang="en-IN" b="1" dirty="0"/>
              <a:t>Transparent Reasoning Trace</a:t>
            </a:r>
            <a:r>
              <a:rPr lang="en-IN" dirty="0"/>
              <a:t> — Every agent thought, tool call, and observation is logged and displayed live on the dashboard. Operators and judges can see exactly why IRIS made each decision — making it fully explainable and auditable, unlike black-box RF analysers.</a:t>
            </a:r>
          </a:p>
          <a:p>
            <a:r>
              <a:rPr lang="en-IN" b="1" dirty="0"/>
              <a:t>No Specialised Hardware Required</a:t>
            </a:r>
            <a:r>
              <a:rPr lang="en-IN" dirty="0"/>
              <a:t> — Existing RF interference tools require expensive SDR hardware (USRP, spectrum analysers costing thousands of dollars). IRIS runs entirely on software with simulated IQ data, making professional-grade spectrum intelligence accessible to anyone.</a:t>
            </a:r>
          </a:p>
          <a:p>
            <a:r>
              <a:rPr lang="en-IN" dirty="0"/>
              <a:t>This makes IRIS a smart, autonomous, and self-correcting RF engineer — not just a static interference classifier.</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IN" sz="1850" b="0" i="0" u="none" strike="noStrike" cap="none" dirty="0" err="1">
                <a:solidFill>
                  <a:srgbClr val="000000"/>
                </a:solidFill>
                <a:latin typeface="Times New Roman"/>
                <a:ea typeface="Times New Roman"/>
                <a:cs typeface="Times New Roman"/>
                <a:sym typeface="Times New Roman"/>
              </a:rPr>
              <a:t>Github</a:t>
            </a:r>
            <a:r>
              <a:rPr lang="en-IN" sz="1850" b="0" i="0" u="none" strike="noStrike" cap="none" dirty="0">
                <a:solidFill>
                  <a:srgbClr val="000000"/>
                </a:solidFill>
                <a:latin typeface="Times New Roman"/>
                <a:ea typeface="Times New Roman"/>
                <a:cs typeface="Times New Roman"/>
                <a:sym typeface="Times New Roman"/>
              </a:rPr>
              <a:t> repo link :</a:t>
            </a:r>
            <a:r>
              <a:rPr lang="en-IN" sz="1850" b="0" i="0" u="none" strike="noStrike" cap="none" dirty="0">
                <a:solidFill>
                  <a:srgbClr val="000000"/>
                </a:solidFill>
                <a:latin typeface="Times New Roman"/>
                <a:ea typeface="Times New Roman"/>
                <a:cs typeface="Times New Roman"/>
                <a:sym typeface="Times New Roman"/>
                <a:hlinkClick r:id="rId3"/>
              </a:rPr>
              <a:t>https://github.com/Jyothika-S2006/IRIS-rf-intelligence/tree/main</a:t>
            </a:r>
            <a:endParaRPr lang="en-IN" sz="1850" b="0" i="0" u="none" strike="noStrike" cap="none" dirty="0">
              <a:solidFill>
                <a:srgbClr val="000000"/>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IN" sz="1850" dirty="0">
                <a:latin typeface="Times New Roman"/>
                <a:ea typeface="Times New Roman"/>
                <a:cs typeface="Times New Roman"/>
                <a:sym typeface="Times New Roman"/>
              </a:rPr>
              <a:t>The repo has :</a:t>
            </a:r>
          </a:p>
          <a:p>
            <a:pPr marL="342900" marR="0" lvl="0" indent="-342900" algn="l" rtl="0">
              <a:lnSpc>
                <a:spcPct val="162162"/>
              </a:lnSpc>
              <a:spcBef>
                <a:spcPts val="0"/>
              </a:spcBef>
              <a:spcAft>
                <a:spcPts val="0"/>
              </a:spcAft>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All required files </a:t>
            </a:r>
          </a:p>
          <a:p>
            <a:pPr marL="342900" marR="0" lvl="0" indent="-342900" algn="l" rtl="0">
              <a:lnSpc>
                <a:spcPct val="162162"/>
              </a:lnSpc>
              <a:spcBef>
                <a:spcPts val="0"/>
              </a:spcBef>
              <a:spcAft>
                <a:spcPts val="0"/>
              </a:spcAft>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Problem statement file</a:t>
            </a:r>
          </a:p>
          <a:p>
            <a:pPr marL="342900" marR="0" lvl="0" indent="-342900" algn="l" rtl="0">
              <a:lnSpc>
                <a:spcPct val="162162"/>
              </a:lnSpc>
              <a:spcBef>
                <a:spcPts val="0"/>
              </a:spcBef>
              <a:spcAft>
                <a:spcPts val="0"/>
              </a:spcAft>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Ppt file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344129" y="-47822"/>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344129" y="495699"/>
            <a:ext cx="11336594" cy="5126526"/>
          </a:xfrm>
          <a:prstGeom prst="rect">
            <a:avLst/>
          </a:prstGeom>
          <a:noFill/>
          <a:ln>
            <a:noFill/>
          </a:ln>
        </p:spPr>
        <p:txBody>
          <a:bodyPr spcFirstLastPara="1" wrap="square" lIns="0" tIns="0" rIns="0" bIns="0" anchor="t" anchorCtr="0">
            <a:noAutofit/>
          </a:bodyPr>
          <a:lstStyle/>
          <a:p>
            <a:r>
              <a:rPr lang="en-IN" sz="1600" b="1" dirty="0"/>
              <a:t>1. Real SDR Hardware Integration</a:t>
            </a:r>
            <a:r>
              <a:rPr lang="en-IN" sz="1600" dirty="0"/>
              <a:t> Connect IRIS to real Software Defined Radio hardware (RTL-SDR, USRP, </a:t>
            </a:r>
            <a:r>
              <a:rPr lang="en-IN" sz="1600" dirty="0" err="1"/>
              <a:t>HackRF</a:t>
            </a:r>
            <a:r>
              <a:rPr lang="en-IN" sz="1600" dirty="0"/>
              <a:t>) to process live RF captures instead of simulated data. The feature pipeline (features.py) is already hardware-agnostic — only the data source changes.</a:t>
            </a:r>
          </a:p>
          <a:p>
            <a:r>
              <a:rPr lang="en-IN" sz="1600" b="1" dirty="0"/>
              <a:t>2. Real-Time Streaming Pipeline</a:t>
            </a:r>
            <a:r>
              <a:rPr lang="en-IN" sz="1600" dirty="0"/>
              <a:t> Replace the current snapshot-based analysis with a continuous streaming pipeline using Apache Kafka or IBM Event Streams, enabling IRIS to monitor live spectrum 24/7 across multiple frequency bands simultaneously.</a:t>
            </a:r>
          </a:p>
          <a:p>
            <a:r>
              <a:rPr lang="en-IN" sz="1600" b="1" dirty="0"/>
              <a:t>3. Multi-Sensor Network Monitoring</a:t>
            </a:r>
            <a:r>
              <a:rPr lang="en-IN" sz="1600" dirty="0"/>
              <a:t> Scale IRIS to monitor hundreds of RF sensors deployed across a building, campus, or city — each sensor streaming IQ data to a centralised IRIS instance for network-wide interference mapping and source triangulation.</a:t>
            </a:r>
          </a:p>
          <a:p>
            <a:r>
              <a:rPr lang="en-IN" sz="1600" b="1" dirty="0"/>
              <a:t>4. Frequency Hopping &amp; Adaptive Jammers</a:t>
            </a:r>
            <a:r>
              <a:rPr lang="en-IN" sz="1600" dirty="0"/>
              <a:t> Extend the Mitigation Agent to handle frequency-hopping jammers using adaptive LMS filtering and FHSS-aware detection, going beyond static notch filters to track jammers that change frequency rapidly.</a:t>
            </a:r>
          </a:p>
          <a:p>
            <a:r>
              <a:rPr lang="en-IN" sz="1600" b="1" dirty="0"/>
              <a:t>5. Retraining on Real-World Data</a:t>
            </a:r>
            <a:r>
              <a:rPr lang="en-IN" sz="1600" dirty="0"/>
              <a:t> Fine-tune the GBM and CNN models on labelled real-world SDR captures to improve accuracy beyond simulated training data. The train_all.py pipeline is already structured to accept any labelled IQ dataset.</a:t>
            </a:r>
          </a:p>
          <a:p>
            <a:r>
              <a:rPr lang="en-IN" sz="1600" b="1" dirty="0"/>
              <a:t>6. 5G NR &amp; Satellite Band Support</a:t>
            </a:r>
            <a:r>
              <a:rPr lang="en-IN" sz="1600" dirty="0"/>
              <a:t> Extend signal simulation and feature extraction to cover 5G NR bands (sub-6 GHz, </a:t>
            </a:r>
            <a:r>
              <a:rPr lang="en-IN" sz="1600" dirty="0" err="1"/>
              <a:t>mmWave</a:t>
            </a:r>
            <a:r>
              <a:rPr lang="en-IN" sz="1600" dirty="0"/>
              <a:t>), GPS L1/L2, and satellite Ku/Ka bands — making IRIS applicable to next-generation communication systems.</a:t>
            </a:r>
          </a:p>
          <a:p>
            <a:r>
              <a:rPr lang="en-IN" sz="1600" b="1" dirty="0"/>
              <a:t>7. Mobile &amp; Edge Deployment</a:t>
            </a:r>
            <a:r>
              <a:rPr lang="en-IN" sz="1600" dirty="0"/>
              <a:t> Package IRIS as a lightweight edge application deployable on Raspberry Pi or NVIDIA Jetson for field use by telecom engineers — enabling on-site interference diagnosis without cloud connectivity.</a:t>
            </a:r>
          </a:p>
          <a:p>
            <a:r>
              <a:rPr lang="en-IN" sz="1600" b="1" dirty="0"/>
              <a:t>8. Regulatory Reporting Integration</a:t>
            </a:r>
            <a:r>
              <a:rPr lang="en-IN" sz="1600" dirty="0"/>
              <a:t> Automatically generate FCC/TRAI/Ofcom-compliant interference reports from incident memory and submit them via API — reducing the manual paperwork burden on spectrum regulators.</a:t>
            </a:r>
          </a:p>
          <a:p>
            <a:r>
              <a:rPr lang="en-IN" sz="1600" b="1" dirty="0"/>
              <a:t>9. Reinforcement Learning for Mitigation</a:t>
            </a:r>
            <a:r>
              <a:rPr lang="en-IN" sz="1600" dirty="0"/>
              <a:t> Train the Mitigation Agent using reinforcement learning to discover optimal mitigation strategies beyond the four currently implemented — learning from the before/after SNR feedback loop already in place.</a:t>
            </a:r>
          </a:p>
          <a:p>
            <a:r>
              <a:rPr lang="en-IN" sz="1600" b="1" dirty="0"/>
              <a:t>10. Full IBM Cloud Deployment</a:t>
            </a:r>
            <a:r>
              <a:rPr lang="en-IN" sz="1600" dirty="0"/>
              <a:t> Deploy IRIS on IBM Cloud Code Engine with auto-scaling, IBM </a:t>
            </a:r>
            <a:r>
              <a:rPr lang="en-IN" sz="1600" dirty="0" err="1"/>
              <a:t>Cloudant</a:t>
            </a:r>
            <a:r>
              <a:rPr lang="en-IN" sz="1600" dirty="0"/>
              <a:t> for incident storage, and IBM Watson Discovery for enterprise-grade RAG — making it production-ready for telecom operators and defence organisations.</a:t>
            </a:r>
          </a:p>
          <a:p>
            <a:pPr marL="0" marR="0" lvl="0" indent="0" algn="l" rtl="0">
              <a:lnSpc>
                <a:spcPct val="162162"/>
              </a:lnSpc>
              <a:spcBef>
                <a:spcPts val="0"/>
              </a:spcBef>
              <a:spcAft>
                <a:spcPts val="0"/>
              </a:spcAft>
              <a:buClr>
                <a:srgbClr val="2B3541"/>
              </a:buClr>
              <a:buSzPts val="1850"/>
              <a:buFont typeface="Times New Roman"/>
              <a:buNone/>
            </a:pPr>
            <a:endParaRPr sz="16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D6A0FC66-8F05-D754-E211-B3E4049C47AB}"/>
              </a:ext>
            </a:extLst>
          </p:cNvPr>
          <p:cNvPicPr>
            <a:picLocks noChangeAspect="1"/>
          </p:cNvPicPr>
          <p:nvPr/>
        </p:nvPicPr>
        <p:blipFill>
          <a:blip r:embed="rId2"/>
          <a:srcRect t="31398" b="33333"/>
          <a:stretch>
            <a:fillRect/>
          </a:stretch>
        </p:blipFill>
        <p:spPr>
          <a:xfrm>
            <a:off x="1662265" y="1213281"/>
            <a:ext cx="6970458" cy="5463108"/>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BFB44903-4652-A2DA-EDE2-9472E32F3D5B}"/>
              </a:ext>
            </a:extLst>
          </p:cNvPr>
          <p:cNvPicPr>
            <a:picLocks noChangeAspect="1"/>
          </p:cNvPicPr>
          <p:nvPr/>
        </p:nvPicPr>
        <p:blipFill>
          <a:blip r:embed="rId2"/>
          <a:srcRect l="4076" t="7034" r="5806" b="29525"/>
          <a:stretch>
            <a:fillRect/>
          </a:stretch>
        </p:blipFill>
        <p:spPr>
          <a:xfrm>
            <a:off x="440907" y="1477579"/>
            <a:ext cx="10987234" cy="3949828"/>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495</TotalTime>
  <Words>2539</Words>
  <Application>Microsoft Office PowerPoint</Application>
  <PresentationFormat>Widescreen</PresentationFormat>
  <Paragraphs>144</Paragraphs>
  <Slides>19</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DSF 2025031</cp:lastModifiedBy>
  <cp:revision>8</cp:revision>
  <dcterms:created xsi:type="dcterms:W3CDTF">2025-07-08T05:06:56Z</dcterms:created>
  <dcterms:modified xsi:type="dcterms:W3CDTF">2026-10-14T16:19:01Z</dcterms:modified>
</cp:coreProperties>
</file>